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0"/>
          </a:xfrm>
        </p:spPr>
        <p:txBody>
          <a:bodyPr/>
          <a:lstStyle/>
          <a:p>
            <a:pPr algn="l">
              <a:defRPr b="1" sz="4400">
                <a:solidFill>
                  <a:srgbClr val="0F192D"/>
                </a:solidFill>
              </a:defRPr>
            </a:pPr>
            <a:r>
              <a:t>星云科技 2025年度战略复盘与2026规划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474720"/>
            <a:ext cx="7315200" cy="0"/>
          </a:xfrm>
        </p:spPr>
        <p:txBody>
          <a:bodyPr/>
          <a:lstStyle/>
          <a:p>
            <a:pPr algn="l">
              <a:defRPr sz="2400">
                <a:solidFill>
                  <a:srgbClr val="64646E"/>
                </a:solidFill>
              </a:defRPr>
            </a:pPr>
            <a:r>
              <a:t>NASDAQ: NEBULA | 聚焦企业级AI基础设施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7619695" y="0"/>
            <a:ext cx="4572000" cy="6858000"/>
          </a:xfrm>
          <a:prstGeom prst="rtTriangl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>
            <a:off x="8991295" y="0"/>
            <a:ext cx="3200400" cy="6858000"/>
          </a:xfrm>
          <a:prstGeom prst="rtTriangl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公司概况与核心数据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2895" cy="4572000"/>
          </a:xfrm>
        </p:spPr>
        <p:txBody>
          <a:bodyPr wrap="square"/>
          <a:lstStyle/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公司简介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成立于2018年，总部深圳，专注于企业级AI基础设施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截至2025年底，员工1,200人，研发人员占比65%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2025年财务亮点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全年营收12.8亿元，同比增长47%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净利润1.92亿元，同比增长82%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客户数达680家，同比增长51%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2025年核心财务指标对比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10563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0052CC"/>
                </a:solidFill>
              </a:defRPr>
            </a:pPr>
            <a:r>
              <a:rPr b="0" i="0"/>
              <a:t>营收（亿元）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2024年：8.7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2025年：12.8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同比：+47%</a:t>
            </a:r>
          </a:p>
        </p:txBody>
      </p:sp>
      <p:sp>
        <p:nvSpPr>
          <p:cNvPr id="6" name="Oval 5"/>
          <p:cNvSpPr/>
          <p:nvPr/>
        </p:nvSpPr>
        <p:spPr>
          <a:xfrm>
            <a:off x="2316403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2807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0052CC"/>
                </a:solidFill>
              </a:defRPr>
            </a:pPr>
            <a:r>
              <a:rPr b="0" i="0"/>
              <a:t>净利润（亿元）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2024年：1.05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2025年：1.92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同比：+82%</a:t>
            </a:r>
          </a:p>
        </p:txBody>
      </p:sp>
      <p:sp>
        <p:nvSpPr>
          <p:cNvPr id="8" name="Oval 7"/>
          <p:cNvSpPr/>
          <p:nvPr/>
        </p:nvSpPr>
        <p:spPr>
          <a:xfrm>
            <a:off x="5638647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051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0052CC"/>
                </a:solidFill>
              </a:defRPr>
            </a:pPr>
            <a:r>
              <a:rPr b="0" i="0"/>
              <a:t>研发投入（亿元）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2024年：3.2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2025年：4.8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同比：+50%</a:t>
            </a:r>
          </a:p>
        </p:txBody>
      </p:sp>
      <p:sp>
        <p:nvSpPr>
          <p:cNvPr id="10" name="Oval 9"/>
          <p:cNvSpPr/>
          <p:nvPr/>
        </p:nvSpPr>
        <p:spPr>
          <a:xfrm>
            <a:off x="8960891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三大核心业务板块表现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10563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0052CC"/>
                </a:solidFill>
              </a:defRPr>
            </a:pPr>
            <a:r>
              <a:rPr b="0" i="0"/>
              <a:t>AI推理引擎 (NebulaInfer)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营收6.4亿元，占比50%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同比增长62%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MLPerf全球第三</a:t>
            </a:r>
          </a:p>
        </p:txBody>
      </p:sp>
      <p:sp>
        <p:nvSpPr>
          <p:cNvPr id="6" name="Oval 5"/>
          <p:cNvSpPr/>
          <p:nvPr/>
        </p:nvSpPr>
        <p:spPr>
          <a:xfrm>
            <a:off x="2316403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2807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0052CC"/>
                </a:solidFill>
              </a:defRPr>
            </a:pPr>
            <a:r>
              <a:rPr b="0" i="0"/>
              <a:t>数据中台 (NebulaData)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营收3.8亿元，占比30%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同比增长35%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日处理数据&gt;50PB</a:t>
            </a:r>
          </a:p>
        </p:txBody>
      </p:sp>
      <p:sp>
        <p:nvSpPr>
          <p:cNvPr id="8" name="Oval 7"/>
          <p:cNvSpPr/>
          <p:nvPr/>
        </p:nvSpPr>
        <p:spPr>
          <a:xfrm>
            <a:off x="5638647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051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0052CC"/>
                </a:solidFill>
              </a:defRPr>
            </a:pPr>
            <a:r>
              <a:rPr b="0" i="0"/>
              <a:t>AI应用平台 (NebulaApp)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营收2.6亿元，占比20%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同比增长28%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SaaS MRR突破800万</a:t>
            </a:r>
          </a:p>
        </p:txBody>
      </p:sp>
      <p:sp>
        <p:nvSpPr>
          <p:cNvPr id="10" name="Oval 9"/>
          <p:cNvSpPr/>
          <p:nvPr/>
        </p:nvSpPr>
        <p:spPr>
          <a:xfrm>
            <a:off x="8960891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2025年重大技术突破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2895" cy="4572000"/>
          </a:xfrm>
        </p:spPr>
        <p:txBody>
          <a:bodyPr wrap="square"/>
          <a:lstStyle/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自研推理芯片 NebulaSilicon N1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7nm工艺，性能达NVIDIA A100的85%，功耗仅40%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已完成流片验证，预计2026年Q2量产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多模态大模型 NebulaLLM-70B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700亿参数，中文理解与代码生成全球前五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开放API日均调用量突破2亿次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边缘推理框架 EdgeInfer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支持在ARM/x86边缘设备运行10B级模型，内存&lt;4GB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已部署于10万台物联网终端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核心技术团队构成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10563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0052CC"/>
                </a:solidFill>
              </a:defRPr>
            </a:pPr>
            <a:r>
              <a:rPr b="0" i="0"/>
              <a:t>芯片设计部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120人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负责人：李明博士（前高通）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2025年新增30人</a:t>
            </a:r>
          </a:p>
        </p:txBody>
      </p:sp>
      <p:sp>
        <p:nvSpPr>
          <p:cNvPr id="6" name="Oval 5"/>
          <p:cNvSpPr/>
          <p:nvPr/>
        </p:nvSpPr>
        <p:spPr>
          <a:xfrm>
            <a:off x="2316403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2807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0052CC"/>
                </a:solidFill>
              </a:defRPr>
            </a:pPr>
            <a:r>
              <a:rPr b="0" i="0"/>
              <a:t>AI算法部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200人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负责人：王芳博士（前Google Brain）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2025年新增45人</a:t>
            </a:r>
          </a:p>
        </p:txBody>
      </p:sp>
      <p:sp>
        <p:nvSpPr>
          <p:cNvPr id="8" name="Oval 7"/>
          <p:cNvSpPr/>
          <p:nvPr/>
        </p:nvSpPr>
        <p:spPr>
          <a:xfrm>
            <a:off x="5638647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051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0052CC"/>
                </a:solidFill>
              </a:defRPr>
            </a:pPr>
            <a:r>
              <a:rPr b="0" i="0"/>
              <a:t>平台工程部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350人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负责人：张强（前阿里云P9）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2025年新增60人</a:t>
            </a:r>
          </a:p>
        </p:txBody>
      </p:sp>
      <p:sp>
        <p:nvSpPr>
          <p:cNvPr id="10" name="Oval 9"/>
          <p:cNvSpPr/>
          <p:nvPr/>
        </p:nvSpPr>
        <p:spPr>
          <a:xfrm>
            <a:off x="8960891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2025年市场竞争格局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10563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0052CC"/>
                </a:solidFill>
              </a:defRPr>
            </a:pPr>
            <a:r>
              <a:rPr b="0" i="0"/>
              <a:t>华为昇腾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市场份额：22%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核心优势：全栈自研+政企渠道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营收规模：180亿</a:t>
            </a:r>
          </a:p>
        </p:txBody>
      </p:sp>
      <p:sp>
        <p:nvSpPr>
          <p:cNvPr id="6" name="Oval 5"/>
          <p:cNvSpPr/>
          <p:nvPr/>
        </p:nvSpPr>
        <p:spPr>
          <a:xfrm>
            <a:off x="2316403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2807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0052CC"/>
                </a:solidFill>
              </a:defRPr>
            </a:pPr>
            <a:r>
              <a:rPr b="0" i="0"/>
              <a:t>阿里云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市场份额：18%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核心优势：云生态+通义千问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营收规模：150亿</a:t>
            </a:r>
          </a:p>
        </p:txBody>
      </p:sp>
      <p:sp>
        <p:nvSpPr>
          <p:cNvPr id="8" name="Oval 7"/>
          <p:cNvSpPr/>
          <p:nvPr/>
        </p:nvSpPr>
        <p:spPr>
          <a:xfrm>
            <a:off x="5638647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051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0052CC"/>
                </a:solidFill>
              </a:defRPr>
            </a:pPr>
            <a:r>
              <a:rPr b="0" i="0"/>
              <a:t>星云科技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市场份额：5%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核心优势：推理性能+性价比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营收规模：12.8亿</a:t>
            </a:r>
          </a:p>
        </p:txBody>
      </p:sp>
      <p:sp>
        <p:nvSpPr>
          <p:cNvPr id="10" name="Oval 9"/>
          <p:cNvSpPr/>
          <p:nvPr/>
        </p:nvSpPr>
        <p:spPr>
          <a:xfrm>
            <a:off x="8960891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竞争优势与劣势分析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17978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0052CC"/>
                </a:solidFill>
              </a:defRPr>
            </a:pPr>
            <a:r>
              <a:rPr b="0" i="0"/>
              <a:t>核心优势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推理性能性价比行业第一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同等性能成本仅为竞品的60%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自研芯片即将量产，形成软硬一体化壁垒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技术团队密度高（研发占比65%）</a:t>
            </a:r>
          </a:p>
        </p:txBody>
      </p:sp>
      <p:sp>
        <p:nvSpPr>
          <p:cNvPr id="6" name="Oval 5"/>
          <p:cNvSpPr/>
          <p:nvPr/>
        </p:nvSpPr>
        <p:spPr>
          <a:xfrm>
            <a:off x="3423818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47636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0052CC"/>
                </a:solidFill>
              </a:defRPr>
            </a:pPr>
            <a:r>
              <a:rPr b="0" i="0"/>
              <a:t>主要劣势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品牌知名度不足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企业客户决策周期平均6个月（行业平均3个月）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政企渠道覆盖有限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政府/军工客户仅占营收8%（行业平均25%）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海外市场刚起步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海外营收占比仅5%</a:t>
            </a:r>
          </a:p>
        </p:txBody>
      </p:sp>
      <p:sp>
        <p:nvSpPr>
          <p:cNvPr id="8" name="Oval 7"/>
          <p:cNvSpPr/>
          <p:nvPr/>
        </p:nvSpPr>
        <p:spPr>
          <a:xfrm>
            <a:off x="7853476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2026年营收目标与分解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10563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0052CC"/>
                </a:solidFill>
              </a:defRPr>
            </a:pPr>
            <a:r>
              <a:rPr b="0" i="0"/>
              <a:t>总体目标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目标营收20亿元（+56%）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净利润3亿元（+56%）</a:t>
            </a:r>
          </a:p>
        </p:txBody>
      </p:sp>
      <p:sp>
        <p:nvSpPr>
          <p:cNvPr id="6" name="Oval 5"/>
          <p:cNvSpPr/>
          <p:nvPr/>
        </p:nvSpPr>
        <p:spPr>
          <a:xfrm>
            <a:off x="2316403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2807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0052CC"/>
                </a:solidFill>
              </a:defRPr>
            </a:pPr>
            <a:r>
              <a:rPr b="0" i="0"/>
              <a:t>NebulaInfer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目标营收10亿元（+56%）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新增3家金融大客户</a:t>
            </a:r>
          </a:p>
        </p:txBody>
      </p:sp>
      <p:sp>
        <p:nvSpPr>
          <p:cNvPr id="8" name="Oval 7"/>
          <p:cNvSpPr/>
          <p:nvPr/>
        </p:nvSpPr>
        <p:spPr>
          <a:xfrm>
            <a:off x="5638647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051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0052CC"/>
                </a:solidFill>
              </a:defRPr>
            </a:pPr>
            <a:r>
              <a:rPr b="0" i="0"/>
              <a:t>NebulaData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目标营收6亿元（+58%）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重点突破制造业和能源行业</a:t>
            </a:r>
          </a:p>
        </p:txBody>
      </p:sp>
      <p:sp>
        <p:nvSpPr>
          <p:cNvPr id="10" name="Oval 9"/>
          <p:cNvSpPr/>
          <p:nvPr/>
        </p:nvSpPr>
        <p:spPr>
          <a:xfrm>
            <a:off x="8960891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2026年关键战略举措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2895" cy="4572000"/>
          </a:xfrm>
        </p:spPr>
        <p:txBody>
          <a:bodyPr wrap="square"/>
          <a:lstStyle/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1. NebulaSilicon N1 芯片量产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Q2完成量产，Q3实现首批客户交付，预计降低推理成本40%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2. 政企市场突破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成立政企事业部（目标50人），建立北京/西安/成都三地交付中心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目标政企客户营收占比提升至15%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3. 海外市场启动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设立新加坡总部，覆盖东南亚市场，目标海外营收占比提升至10%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已与DBS银行、Grab签署合作意向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4. 大模型商业化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NebulaLLM推出企业版（私有化部署），定价100万/年起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目标签约50家企业客户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2026年资源投入计划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10563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0052CC"/>
                </a:solidFill>
              </a:defRPr>
            </a:pPr>
            <a:r>
              <a:rPr b="0" i="0"/>
              <a:t>芯片研发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预算：3.0亿元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占比：38%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关键里程碑：Q2量产</a:t>
            </a:r>
          </a:p>
        </p:txBody>
      </p:sp>
      <p:sp>
        <p:nvSpPr>
          <p:cNvPr id="6" name="Oval 5"/>
          <p:cNvSpPr/>
          <p:nvPr/>
        </p:nvSpPr>
        <p:spPr>
          <a:xfrm>
            <a:off x="2316403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2807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0052CC"/>
                </a:solidFill>
              </a:defRPr>
            </a:pPr>
            <a:r>
              <a:rPr b="0" i="0"/>
              <a:t>AI算法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预算：2.5亿元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占比：31%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关键里程碑：发布NebulaLLM-130B</a:t>
            </a:r>
          </a:p>
        </p:txBody>
      </p:sp>
      <p:sp>
        <p:nvSpPr>
          <p:cNvPr id="8" name="Oval 7"/>
          <p:cNvSpPr/>
          <p:nvPr/>
        </p:nvSpPr>
        <p:spPr>
          <a:xfrm>
            <a:off x="5638647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051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0052CC"/>
                </a:solidFill>
              </a:defRPr>
            </a:pPr>
            <a:r>
              <a:rPr b="0" i="0"/>
              <a:t>市场拓展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预算：1.5亿元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占比：19%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关键里程碑：海外营收占比10%</a:t>
            </a:r>
          </a:p>
        </p:txBody>
      </p:sp>
      <p:sp>
        <p:nvSpPr>
          <p:cNvPr id="10" name="Oval 9"/>
          <p:cNvSpPr/>
          <p:nvPr/>
        </p:nvSpPr>
        <p:spPr>
          <a:xfrm>
            <a:off x="8960891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主要风险与应对措施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2895" cy="4572000"/>
          </a:xfrm>
        </p:spPr>
        <p:txBody>
          <a:bodyPr wrap="square"/>
          <a:lstStyle/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技术风险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芯片流片失败：预留二次流片预算（5000万元），与台积电签订优先排期协议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大模型幻觉问题：引入RAG+事实核查双引擎，企业版准确率达99.2%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市场风险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价格战风险：通过自研芯片构建成本壁垒，毛利率目标维持60%以上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客户集中度风险：Top 10客户营收占比从35%降至28%（已改善）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人才风险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核心人才流失：实施股权激励计划（覆盖Top 200技术人员），锁定期4年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招聘竞争加剧：与清华/北大/中科大建立联合实验室，提前锁定优秀毕业生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ESG与社会责任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2895" cy="4572000"/>
          </a:xfrm>
        </p:spPr>
        <p:txBody>
          <a:bodyPr wrap="square"/>
          <a:lstStyle/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碳中和目标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2028年实现运营碳中和，2030年供应链碳中和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数据中心PUE降至1.15（行业平均1.35）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教育公益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向50所高校提供AI实训平台，累计培养学生15,000人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开源贡献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NebulaInfer开源社区贡献者800+，月活跃开发者2,000+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0"/>
          </a:xfrm>
        </p:spPr>
        <p:txBody>
          <a:bodyPr/>
          <a:lstStyle/>
          <a:p>
            <a:pPr algn="l">
              <a:defRPr b="1" sz="4400">
                <a:solidFill>
                  <a:srgbClr val="0F192D"/>
                </a:solidFill>
              </a:defRPr>
            </a:pPr>
            <a:r>
              <a:t>谢谢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474720"/>
            <a:ext cx="7315200" cy="0"/>
          </a:xfrm>
        </p:spPr>
        <p:txBody>
          <a:bodyPr/>
          <a:lstStyle/>
          <a:p>
            <a:pPr algn="l">
              <a:defRPr sz="2400">
                <a:solidFill>
                  <a:srgbClr val="64646E"/>
                </a:solidFill>
              </a:defRPr>
            </a:pPr>
            <a:r>
              <a:t>Q &amp; 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7619695" y="0"/>
            <a:ext cx="4572000" cy="6858000"/>
          </a:xfrm>
          <a:prstGeom prst="rtTriangl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>
            <a:off x="8991295" y="0"/>
            <a:ext cx="3200400" cy="6858000"/>
          </a:xfrm>
          <a:prstGeom prst="rtTriangl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