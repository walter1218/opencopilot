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全球市场(亿美元)</c:v>
                </c:pt>
              </c:strCache>
            </c:strRef>
          </c:tx>
          <c:spPr>
            <a:solidFill>
              <a:srgbClr val="007BFF"/>
            </a:solidFill>
          </c:spPr>
          <c:cat>
            <c:strRef>
              <c:f>Sheet1!$A$2:$A$5</c:f>
              <c:strCache>
                <c:ptCount val="4"/>
                <c:pt idx="0">
                  <c:v>2024年</c:v>
                </c:pt>
                <c:pt idx="1">
                  <c:v>2025年</c:v>
                </c:pt>
                <c:pt idx="2">
                  <c:v>2026年(预测)</c:v>
                </c:pt>
                <c:pt idx="3">
                  <c:v>2030年(预测)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52.9</c:v>
                </c:pt>
                <c:pt idx="1">
                  <c:v>120</c:v>
                </c:pt>
                <c:pt idx="2">
                  <c:v>250</c:v>
                </c:pt>
                <c:pt idx="3">
                  <c:v>471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中国市场(亿人民币)</c:v>
                </c:pt>
              </c:strCache>
            </c:strRef>
          </c:tx>
          <c:spPr>
            <a:solidFill>
              <a:srgbClr val="28A745"/>
            </a:solidFill>
          </c:spPr>
          <c:cat>
            <c:strRef>
              <c:f>Sheet1!$A$2:$A$5</c:f>
              <c:strCache>
                <c:ptCount val="4"/>
                <c:pt idx="0">
                  <c:v>2024年</c:v>
                </c:pt>
                <c:pt idx="1">
                  <c:v>2025年</c:v>
                </c:pt>
                <c:pt idx="2">
                  <c:v>2026年(预测)</c:v>
                </c:pt>
                <c:pt idx="3">
                  <c:v>2030年(预测)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</c:v>
                </c:pt>
                <c:pt idx="1">
                  <c:v>190</c:v>
                </c:pt>
                <c:pt idx="2">
                  <c:v>400</c:v>
                </c:pt>
                <c:pt idx="3">
                  <c:v>800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crossAx val="-2068027336"/>
        <c:crosses val="autoZero"/>
      </c:valAx>
    </c:plotArea>
    <c:legend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AI Agent 产品全景与核心趋势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从‘对话助手’到‘数字员工’的范式跃迁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执行摘要：AI Agent的范式跃迁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核心定义：AI Agent是能感知环境、自主规划、调用工具并执行多步任务的智能系统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与传统AI的本质区别：从被动响应到主动规划与执行，具备长期记忆与上下文管理能力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产业爆发：2026年中国AI Agent产业链总产值突破千亿元，年复合增长率超30%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企业级应用成为核心增长引擎，ToC市场进入体验升级关键期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产品范式迁移：AI完成从‘回答问题’到‘执行任务’的本质跃迁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产品设计核心从‘交互体验’转向‘任务闭环能力’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Agent产品全景分类：六大类别概览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914400" y="1645920"/>
          <a:ext cx="10362895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新兴产品深度剖析：OpenClaw、腾讯双引擎与Hermes Agent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OpenClaw：开源生态的引爆者与基石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核心定位：开源框架，让AI操控电脑、浏览器、文件系统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市场影响力：拥有30万+ Star，成为AI Agent普及的关键贡献者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Hermes Agent：新锐力量与自进化路线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核心定位：强调自主学习与长期任务自动化，解决Agent‘越用越强’的核心痛点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市场表现：两个月内冲到6万+ Star，代表AI Agent新方向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OpenClaw vs Hermes：两大路线的终极对比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技术基因</a:t>
            </a:r>
          </a:p>
        </p:txBody>
      </p:sp>
      <p:sp>
        <p:nvSpPr>
          <p:cNvPr id="6" name="Oval 5"/>
          <p:cNvSpPr/>
          <p:nvPr/>
        </p:nvSpPr>
        <p:spPr>
          <a:xfrm>
            <a:off x="205740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38912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OpenClaw：Node.js工程导向，侧重编排与可控</a:t>
            </a:r>
          </a:p>
        </p:txBody>
      </p:sp>
      <p:sp>
        <p:nvSpPr>
          <p:cNvPr id="8" name="Oval 7"/>
          <p:cNvSpPr/>
          <p:nvPr/>
        </p:nvSpPr>
        <p:spPr>
          <a:xfrm>
            <a:off x="553212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0" y="1828800"/>
            <a:ext cx="3200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0F192D"/>
                </a:solidFill>
              </a:defRPr>
            </a:pPr>
            <a:r>
              <a:rPr b="0" i="0"/>
              <a:t>核心抽象</a:t>
            </a:r>
          </a:p>
        </p:txBody>
      </p:sp>
      <p:sp>
        <p:nvSpPr>
          <p:cNvPr id="10" name="Oval 9"/>
          <p:cNvSpPr/>
          <p:nvPr/>
        </p:nvSpPr>
        <p:spPr>
          <a:xfrm>
            <a:off x="9006840" y="1097280"/>
            <a:ext cx="914400" cy="914400"/>
          </a:xfrm>
          <a:prstGeom prst="ellips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Agent核心框架与七大架构模式（续）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Agent四大核心要素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感知模块：接收并处理来自环境的多模态信息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规划模块：任务分解、策略制定与动态调整能力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行动模块：调用工具或API执行具体操作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记忆模块：存储历史信息，实现长期记忆与上下文管理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主流架构模式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从最简单的单循环到复杂的多Agent协作系统，共六种主流架构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市场数据、采用现状与信任度危机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市场规模与增长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2026年中国AI Agent产业链总产值突破千亿元，年复合增长率超30%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模型普惠化（如DeepSeek V4-Pro）大幅降低推理成本，推动大规模Agent部署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企业采用现状：规模化落地困难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目前仅有约5%的企业成功将AI Agent技术实现规模化部署与应用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大多数企业仍停留在试点或概念验证阶段，面临技术整合、成本与效果评估等挑战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核心挑战：信任度与可靠性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多智能体协作、可解释性与安全性是实现产业落地的关键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57200"/>
            <a:ext cx="10362895" cy="1097280"/>
          </a:xfrm>
        </p:spPr>
        <p:txBody>
          <a:bodyPr/>
          <a:lstStyle/>
          <a:p>
            <a:pPr algn="l">
              <a:defRPr b="1" sz="3600">
                <a:solidFill>
                  <a:srgbClr val="0052CC"/>
                </a:solidFill>
              </a:defRPr>
            </a:pPr>
            <a:r>
              <a:t>五大迭代方向与发展趋势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645920"/>
            <a:ext cx="10362895" cy="4572000"/>
          </a:xfrm>
        </p:spPr>
        <p:txBody>
          <a:bodyPr/>
          <a:lstStyle/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多智能体协作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多个专业Agent协同工作，完成复杂项目，如虚拟团队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云边端协同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Agent能力在云端、边缘和终端设备间灵活分配与调度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可解释性与安全性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提升Agent决策过程的透明度，建立用户信任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垂直行业深度应用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金融、制造、医疗三大赛道率先验证商业价值</a:t>
            </a:r>
          </a:p>
          <a:p>
            <a:pPr>
              <a:spcAft>
                <a:spcPts val="1200"/>
              </a:spcAft>
              <a:defRPr sz="2800">
                <a:solidFill>
                  <a:srgbClr val="0F192D"/>
                </a:solidFill>
              </a:defRPr>
            </a:pPr>
            <a:r>
              <a:rPr b="0" i="0"/>
              <a:t>部署模式创新</a:t>
            </a:r>
          </a:p>
          <a:p>
            <a:pPr lvl="1">
              <a:spcAft>
                <a:spcPts val="1200"/>
              </a:spcAft>
              <a:defRPr sz="2200">
                <a:solidFill>
                  <a:srgbClr val="3C4043"/>
                </a:solidFill>
              </a:defRPr>
            </a:pPr>
            <a:r>
              <a:rPr b="0" i="0"/>
              <a:t>云端沙箱托管成为新选择，兼顾安全、便捷与成本可控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286000"/>
            <a:ext cx="7315200" cy="0"/>
          </a:xfrm>
        </p:spPr>
        <p:txBody>
          <a:bodyPr/>
          <a:lstStyle/>
          <a:p>
            <a:pPr algn="l">
              <a:defRPr b="1" sz="4400">
                <a:solidFill>
                  <a:srgbClr val="0F192D"/>
                </a:solidFill>
              </a:defRPr>
            </a:pPr>
            <a:r>
              <a:t>谢谢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474720"/>
            <a:ext cx="7315200" cy="0"/>
          </a:xfrm>
        </p:spPr>
        <p:txBody>
          <a:bodyPr/>
          <a:lstStyle/>
          <a:p>
            <a:pPr algn="l">
              <a:defRPr sz="2400">
                <a:solidFill>
                  <a:srgbClr val="64646E"/>
                </a:solidFill>
              </a:defRPr>
            </a:pPr>
            <a:r>
              <a:t>Q &amp; A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ight Triangle 4"/>
          <p:cNvSpPr/>
          <p:nvPr/>
        </p:nvSpPr>
        <p:spPr>
          <a:xfrm>
            <a:off x="7619695" y="0"/>
            <a:ext cx="4572000" cy="6858000"/>
          </a:xfrm>
          <a:prstGeom prst="rtTriangle">
            <a:avLst/>
          </a:prstGeom>
          <a:solidFill>
            <a:srgbClr val="EB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ight Triangle 5"/>
          <p:cNvSpPr/>
          <p:nvPr/>
        </p:nvSpPr>
        <p:spPr>
          <a:xfrm>
            <a:off x="8991295" y="0"/>
            <a:ext cx="3200400" cy="6858000"/>
          </a:xfrm>
          <a:prstGeom prst="rtTriangle">
            <a:avLst/>
          </a:prstGeom>
          <a:solidFill>
            <a:srgbClr val="0052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